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registros se generan una sola vez, se guardan en una lista no modificable y cada análisis los procesa con su propio Stream sin alterarlos. Cuatro análisis reutilizan la función de orden superior contarPor. Solo main() imprime en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funcional del procesamiento de registros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TecnoMovil Data — Figura 1. Elaboración propia</a:t>
            </a:r>
            <a:endParaRPr lang="en-US" sz="1300" dirty="0"/>
          </a:p>
        </p:txBody>
      </p:sp>
      <p:sp>
        <p:nvSpPr>
          <p:cNvPr id="4" name="gen"/>
          <p:cNvSpPr/>
          <p:nvPr/>
        </p:nvSpPr>
        <p:spPr>
          <a:xfrm>
            <a:off x="365760" y="324612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4D6"/>
          </a:solidFill>
          <a:ln w="15875">
            <a:solidFill>
              <a:srgbClr val="B886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generarRegistros()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12.000 RegistroTransporte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 inmutable)</a:t>
            </a:r>
            <a:endParaRPr lang="en-US" sz="1300" dirty="0"/>
          </a:p>
        </p:txBody>
      </p:sp>
      <p:sp>
        <p:nvSpPr>
          <p:cNvPr id="5" name="lista"/>
          <p:cNvSpPr/>
          <p:nvPr/>
        </p:nvSpPr>
        <p:spPr>
          <a:xfrm>
            <a:off x="2606040" y="3246120"/>
            <a:ext cx="1965960" cy="1005840"/>
          </a:xfrm>
          <a:prstGeom prst="roundRect">
            <a:avLst>
              <a:gd name="adj" fmla="val 10909"/>
            </a:avLst>
          </a:prstGeom>
          <a:solidFill>
            <a:srgbClr val="FFF4D6"/>
          </a:solidFill>
          <a:ln w="15875">
            <a:solidFill>
              <a:srgbClr val="B886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List&lt;RegistroTransporte&gt;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modificable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(.toList())</a:t>
            </a:r>
            <a:endParaRPr lang="en-US" sz="1300" dirty="0"/>
          </a:p>
        </p:txBody>
      </p:sp>
      <p:sp>
        <p:nvSpPr>
          <p:cNvPr id="6" name="hof"/>
          <p:cNvSpPr/>
          <p:nvPr/>
        </p:nvSpPr>
        <p:spPr>
          <a:xfrm>
            <a:off x="5120640" y="237744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E3F4E1"/>
          </a:solidFill>
          <a:ln w="15875">
            <a:solidFill>
              <a:srgbClr val="2E7D3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contarPor(filtro, clasificador)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orden superior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groupingBy → counting</a:t>
            </a:r>
            <a:endParaRPr lang="en-US" sz="1300" dirty="0"/>
          </a:p>
        </p:txBody>
      </p:sp>
      <p:sp>
        <p:nvSpPr>
          <p:cNvPr id="7" name="a1"/>
          <p:cNvSpPr/>
          <p:nvPr/>
        </p:nvSpPr>
        <p:spPr>
          <a:xfrm>
            <a:off x="7589520" y="137160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afluenciaPorEstacion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ES_ENTRADA + estacion</a:t>
            </a:r>
            <a:endParaRPr lang="en-US" sz="1300" dirty="0"/>
          </a:p>
        </p:txBody>
      </p:sp>
      <p:sp>
        <p:nvSpPr>
          <p:cNvPr id="8" name="a2"/>
          <p:cNvSpPr/>
          <p:nvPr/>
        </p:nvSpPr>
        <p:spPr>
          <a:xfrm>
            <a:off x="7589520" y="2212848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entradasPorHora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ES_ENTRADA + HORA_DEL_EVENTO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(timestamp.andThen(getHour))</a:t>
            </a:r>
            <a:endParaRPr lang="en-US" sz="1300" dirty="0"/>
          </a:p>
        </p:txBody>
      </p:sp>
      <p:sp>
        <p:nvSpPr>
          <p:cNvPr id="9" name="a3"/>
          <p:cNvSpPr/>
          <p:nvPr/>
        </p:nvSpPr>
        <p:spPr>
          <a:xfrm>
            <a:off x="7589520" y="3054096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rutasMasUtilizadas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-&gt; true + ruta → sorted</a:t>
            </a:r>
            <a:endParaRPr lang="en-US" sz="1300" dirty="0"/>
          </a:p>
        </p:txBody>
      </p:sp>
      <p:sp>
        <p:nvSpPr>
          <p:cNvPr id="10" name="a6"/>
          <p:cNvSpPr/>
          <p:nvPr/>
        </p:nvSpPr>
        <p:spPr>
          <a:xfrm>
            <a:off x="7589520" y="3895344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detectarSobrecarga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ES_ENTRADA + ruta → RutaEstado</a:t>
            </a:r>
            <a:endParaRPr lang="en-US" sz="1300" dirty="0"/>
          </a:p>
        </p:txBody>
      </p:sp>
      <p:sp>
        <p:nvSpPr>
          <p:cNvPr id="11" name="a4"/>
          <p:cNvSpPr/>
          <p:nvPr/>
        </p:nvSpPr>
        <p:spPr>
          <a:xfrm>
            <a:off x="7589520" y="4736592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patronesPorUsuario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→ groupingBy(TreeMap)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mapping(estacion)</a:t>
            </a:r>
            <a:endParaRPr lang="en-US" sz="1300" dirty="0"/>
          </a:p>
        </p:txBody>
      </p:sp>
      <p:sp>
        <p:nvSpPr>
          <p:cNvPr id="12" name="a5"/>
          <p:cNvSpPr/>
          <p:nvPr/>
        </p:nvSpPr>
        <p:spPr>
          <a:xfrm>
            <a:off x="7589520" y="5577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AF2FB"/>
          </a:solidFill>
          <a:ln w="15875">
            <a:solidFill>
              <a:srgbClr val="2E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tiempoPromedioEntreEstaciones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groupingBy → flatMap(Duration)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average</a:t>
            </a:r>
            <a:endParaRPr lang="en-US" sz="1300" dirty="0"/>
          </a:p>
        </p:txBody>
      </p:sp>
      <p:sp>
        <p:nvSpPr>
          <p:cNvPr id="13" name="main"/>
          <p:cNvSpPr/>
          <p:nvPr/>
        </p:nvSpPr>
        <p:spPr>
          <a:xfrm>
            <a:off x="10744200" y="3154680"/>
            <a:ext cx="1188720" cy="1188720"/>
          </a:xfrm>
          <a:prstGeom prst="roundRect">
            <a:avLst>
              <a:gd name="adj" fmla="val 9231"/>
            </a:avLst>
          </a:prstGeom>
          <a:solidFill>
            <a:srgbClr val="FBE9E7"/>
          </a:solidFill>
          <a:ln w="15875">
            <a:solidFill>
              <a:srgbClr val="C6282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por consola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(único efecto secundario)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3749040"/>
            <a:ext cx="411480" cy="914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4572000" y="2926080"/>
            <a:ext cx="548640" cy="822960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59352" y="3191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V="1">
            <a:off x="7269480" y="1746504"/>
            <a:ext cx="320040" cy="1179576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7269480" y="2587752"/>
            <a:ext cx="320040" cy="338328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926080"/>
            <a:ext cx="320040" cy="502920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9480" y="2926080"/>
            <a:ext cx="320040" cy="1344168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3017520" cy="1362456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020056" y="3846881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749040"/>
            <a:ext cx="3017520" cy="2203704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332720" y="1746504"/>
            <a:ext cx="411480" cy="2002536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32720" y="2587752"/>
            <a:ext cx="411480" cy="1161288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32720" y="3429000"/>
            <a:ext cx="411480" cy="320040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332720" y="3749040"/>
            <a:ext cx="411480" cy="521208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0332720" y="3749040"/>
            <a:ext cx="411480" cy="1362456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10332720" y="3749040"/>
            <a:ext cx="411480" cy="2203704"/>
          </a:xfrm>
          <a:prstGeom prst="line">
            <a:avLst/>
          </a:prstGeom>
          <a:noFill/>
          <a:ln w="15875">
            <a:solidFill>
              <a:srgbClr val="2E5C8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funcional TecnoMovil Data</dc:title>
  <dc:subject>PptxGenJS Presentation</dc:subject>
  <dc:creator>Daniela Cataño Hernández</dc:creator>
  <cp:lastModifiedBy>Daniela Cataño Hernández</cp:lastModifiedBy>
  <cp:revision>1</cp:revision>
  <dcterms:created xsi:type="dcterms:W3CDTF">2026-10-18T18:27:30Z</dcterms:created>
  <dcterms:modified xsi:type="dcterms:W3CDTF">2026-10-18T18:27:30Z</dcterms:modified>
</cp:coreProperties>
</file>